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SciGuide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Автоматическая справочная система на основе языковых моделей для научных документов</a:t>
            </a:r>
            <a:br/>
            <a:br/>
            <a:r>
              <a:rPr/>
              <a:t>Галимов Тимур Дамирович, ПМ23-2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Москва,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и задача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Цель:</a:t>
            </a:r>
            <a:r>
              <a:rPr/>
              <a:t> разработать систему, которая отвечает по документам выбранного научного направления.</a:t>
            </a:r>
          </a:p>
          <a:p>
            <a:pPr lvl="0" indent="0" marL="0">
              <a:buNone/>
            </a:pPr>
            <a:r>
              <a:rPr b="1"/>
              <a:t>Ключевая идея:</a:t>
            </a:r>
            <a:r>
              <a:rPr/>
              <a:t> не доверять LLM без источников, а сначала найти проверяемый контекст.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вопрос</a:t>
            </a:r>
            <a:r>
              <a:rPr/>
              <a:t> → </a:t>
            </a:r>
            <a:r>
              <a:rPr>
                <a:latin typeface="Courier"/>
              </a:rPr>
              <a:t>retrieval по корпусу</a:t>
            </a:r>
            <a:r>
              <a:rPr/>
              <a:t> → </a:t>
            </a:r>
            <a:r>
              <a:rPr>
                <a:latin typeface="Courier"/>
              </a:rPr>
              <a:t>контекст</a:t>
            </a:r>
            <a:r>
              <a:rPr/>
              <a:t> → </a:t>
            </a:r>
            <a:r>
              <a:rPr>
                <a:latin typeface="Courier"/>
              </a:rPr>
              <a:t>ответ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Данные</a:t>
            </a:r>
          </a:p>
        </p:txBody>
      </p:sp>
      <p:pic>
        <p:nvPicPr>
          <p:cNvPr descr="assets/scifact_eda_over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00200"/>
            <a:ext cx="40386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SciFact:</a:t>
            </a:r>
            <a:r>
              <a:rPr/>
              <a:t> 5183 документа · 1109 запросов · 1258 размеченных пар</a:t>
            </a:r>
            <a:br/>
            <a:r>
              <a:rPr/>
              <a:t>Пустых заголовков и текстов в ключевых полях не обнаружено.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Подготовка корпуса</a:t>
            </a:r>
          </a:p>
        </p:txBody>
      </p:sp>
      <p:pic>
        <p:nvPicPr>
          <p:cNvPr descr="assets/data_pipeline_clea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60400" y="1193800"/>
            <a:ext cx="7823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Архитектура SciGuide</a:t>
            </a:r>
          </a:p>
        </p:txBody>
      </p:sp>
      <p:pic>
        <p:nvPicPr>
          <p:cNvPr descr="assets/archon-c4-scigui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22500" y="1193800"/>
            <a:ext cx="4699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Методика оценки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Оценивается ранжирование документов в top-k.</a:t>
            </a:r>
          </a:p>
          <a:p>
            <a:pPr lvl="0"/>
            <a:r>
              <a:rPr>
                <a:latin typeface="Courier"/>
              </a:rPr>
              <a:t>Recall@10</a:t>
            </a:r>
            <a:r>
              <a:rPr/>
              <a:t>: нужный источник попал в контекст</a:t>
            </a:r>
          </a:p>
          <a:p>
            <a:pPr lvl="0"/>
            <a:r>
              <a:rPr>
                <a:latin typeface="Courier"/>
              </a:rPr>
              <a:t>MRR@10</a:t>
            </a:r>
            <a:r>
              <a:rPr/>
              <a:t>: первый релевантный документ найден рано</a:t>
            </a:r>
          </a:p>
          <a:p>
            <a:pPr lvl="0"/>
            <a:r>
              <a:rPr>
                <a:latin typeface="Courier"/>
              </a:rPr>
              <a:t>nDCG@10</a:t>
            </a:r>
            <a:r>
              <a:rPr/>
              <a:t>: релевантные документы высоко в выдаче</a:t>
            </a:r>
          </a:p>
          <a:p>
            <a:pPr lvl="0"/>
            <a:r>
              <a:rPr/>
              <a:t>train / validation / test разделены по запросам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Baseline retrieval</a:t>
            </a:r>
          </a:p>
        </p:txBody>
      </p:sp>
      <p:pic>
        <p:nvPicPr>
          <p:cNvPr descr="assets/notebook/scifact_retrieval_baselines_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98600"/>
            <a:ext cx="82296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Обучаемый reranking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Модель не ищет с нуля, а уточняет top-50 кандидатов baseline.</a:t>
            </a:r>
          </a:p>
          <a:p>
            <a:pPr lvl="0" indent="0">
              <a:buNone/>
            </a:pPr>
            <a:r>
              <a:rPr>
                <a:latin typeface="Courier"/>
              </a:rPr>
              <a:t>final_score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baseline_score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alpha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model_correction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Архитектура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Что проверяет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GraphSAGE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простая агрегация соседей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attention к соседям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R-GCN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разные типы отношений в графе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Сравнение GNN</a:t>
            </a:r>
          </a:p>
        </p:txBody>
      </p:sp>
      <p:pic>
        <p:nvPicPr>
          <p:cNvPr descr="assets/notebook/scifact_graph_models_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52600"/>
            <a:ext cx="82296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Подбор и переобучение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Контроль переобучения:</a:t>
            </a:r>
            <a:r>
              <a:rPr/>
              <a:t> train loss </a:t>
            </a:r>
            <a:r>
              <a:rPr>
                <a:latin typeface="Courier"/>
              </a:rPr>
              <a:t>1,1560</a:t>
            </a:r>
            <a:r>
              <a:rPr/>
              <a:t>, validation loss </a:t>
            </a:r>
            <a:r>
              <a:rPr>
                <a:latin typeface="Courier"/>
              </a:rPr>
              <a:t>1,1568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Вариант R-GCN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test nDCG@10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test Recall@10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test MRR@10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64 / 0,15 / 0,0010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0,6709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0,7989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0,6371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96 / 0,25 / 0,0010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0,6754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0,8039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0,6402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128 / 0,35 / 0,0005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0,6753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0,8112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0,6386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Итоговый подход</a:t>
            </a:r>
          </a:p>
        </p:txBody>
      </p:sp>
      <p:pic>
        <p:nvPicPr>
          <p:cNvPr descr="assets/final_pipeline_clea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51000"/>
            <a:ext cx="8229600" cy="246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Цель достигнута:</a:t>
            </a:r>
            <a:r>
              <a:rPr/>
              <a:t> реализованы notebook, библиотека </a:t>
            </a:r>
            <a:r>
              <a:rPr>
                <a:latin typeface="Courier"/>
              </a:rPr>
              <a:t>sciguide_pipeline</a:t>
            </a:r>
            <a:r>
              <a:rPr/>
              <a:t> и сервис SciGuide.</a:t>
            </a:r>
          </a:p>
          <a:p>
            <a:pPr lvl="0" indent="0" marL="0">
              <a:buNone/>
            </a:pPr>
            <a:r>
              <a:rPr b="1"/>
              <a:t>Лучший результат:</a:t>
            </a:r>
            <a:r>
              <a:rPr/>
              <a:t> semantic retrieval + слабый графовый сигнал + R-GCN rerank.</a:t>
            </a:r>
          </a:p>
          <a:p>
            <a:pPr lvl="0" indent="0" marL="0">
              <a:buNone/>
            </a:pPr>
            <a:r>
              <a:rPr b="1"/>
              <a:t>Ограничение:</a:t>
            </a:r>
            <a:r>
              <a:rPr/>
              <a:t> качество графового сигнала зависит от детерминированного извлечения сущностей.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SciGuide</dc:title>
  <dc:creator>Галимов Тимур Дамирович, ПМ23-2</dc:creator>
  <cp:keywords/>
  <dcterms:created xsi:type="dcterms:W3CDTF">2026-05-17T12:06:41Z</dcterms:created>
  <dcterms:modified xsi:type="dcterms:W3CDTF">2026-05-17T12:06:41Z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Москва, 2026</vt:lpwstr>
  </property>
  <property fmtid="{D5CDD505-2E9C-101B-9397-08002B2CF9AE}" pid="3" name="subtitle">
    <vt:lpwstr>Автоматическая справочная система на основе языковых моделей для научных документов</vt:lpwstr>
  </property>
</Properties>
</file>